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0" y="1097280"/>
            <a:ext cx="1097280" cy="320040"/>
          </a:xfrm>
          <a:prstGeom prst="roundRect">
            <a:avLst>
              <a:gd name="adj" fmla="val 42857"/>
            </a:avLst>
          </a:prstGeom>
          <a:solidFill>
            <a:srgbClr val="0F1535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23360" y="10972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GPTers 22기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코드화 패턴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비개발자가 AI를 다루는 새로운 패러다임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4023360"/>
            <a:ext cx="27432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 Cho (조셉)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5120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9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"코드를 모르지만, 코드를 만들었습니다"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오프닝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"의자 = 방패와 창"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200400" y="2560320"/>
            <a:ext cx="27432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Parker(2013) 영화에서 의자는 단순한 가구가 아니었다.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방어의 방패이자 공격의 창이었다.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9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저는 AI를 그냥 '시켜 먹는' 도구로 썼습니다.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그러다 $100이 하루만에 사라졌습니다.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5303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AI도 마찬가지다.</a:t>
            </a:r>
            <a:endParaRPr lang="en-US" sz="2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도구로 소비하지 말고, 시스템으로 설계하라.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정의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MD 강제성이 모델별로 달라서</a:t>
            </a:r>
            <a:endParaRPr lang="en-US" sz="3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토큰비 낭비가 커진다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0" y="2103120"/>
            <a:ext cx="27432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26080" y="2596896"/>
            <a:ext cx="4114800" cy="256032"/>
          </a:xfrm>
          <a:prstGeom prst="roundRect">
            <a:avLst>
              <a:gd name="adj" fmla="val 35714"/>
            </a:avLst>
          </a:prstGeom>
          <a:solidFill>
            <a:srgbClr val="0F1535"/>
          </a:solidFill>
          <a:ln/>
        </p:spPr>
      </p:sp>
      <p:sp>
        <p:nvSpPr>
          <p:cNvPr id="7" name="Shape 5"/>
          <p:cNvSpPr/>
          <p:nvPr/>
        </p:nvSpPr>
        <p:spPr>
          <a:xfrm>
            <a:off x="2926080" y="2596896"/>
            <a:ext cx="4114800" cy="256032"/>
          </a:xfrm>
          <a:prstGeom prst="roundRect">
            <a:avLst>
              <a:gd name="adj" fmla="val 35714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0" y="25603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955280" y="2560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$15/$75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1272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26080" y="3163824"/>
            <a:ext cx="4114800" cy="256032"/>
          </a:xfrm>
          <a:prstGeom prst="roundRect">
            <a:avLst>
              <a:gd name="adj" fmla="val 35714"/>
            </a:avLst>
          </a:prstGeom>
          <a:solidFill>
            <a:srgbClr val="0F1535"/>
          </a:solidFill>
          <a:ln/>
        </p:spPr>
      </p:sp>
      <p:sp>
        <p:nvSpPr>
          <p:cNvPr id="12" name="Shape 10"/>
          <p:cNvSpPr/>
          <p:nvPr/>
        </p:nvSpPr>
        <p:spPr>
          <a:xfrm>
            <a:off x="2926080" y="3163824"/>
            <a:ext cx="329184" cy="256032"/>
          </a:xfrm>
          <a:prstGeom prst="roundRect">
            <a:avLst>
              <a:gd name="adj" fmla="val 35714"/>
            </a:avLst>
          </a:prstGeom>
          <a:solidFill>
            <a:srgbClr val="BF5AF2"/>
          </a:solidFill>
          <a:ln/>
        </p:spPr>
      </p:sp>
      <p:sp>
        <p:nvSpPr>
          <p:cNvPr id="13" name="Text 11"/>
          <p:cNvSpPr/>
          <p:nvPr/>
        </p:nvSpPr>
        <p:spPr>
          <a:xfrm>
            <a:off x="7223760" y="312724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F5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955280" y="312724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$1.25/$10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69417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Pro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926080" y="3730752"/>
            <a:ext cx="4114800" cy="256032"/>
          </a:xfrm>
          <a:prstGeom prst="roundRect">
            <a:avLst>
              <a:gd name="adj" fmla="val 35714"/>
            </a:avLst>
          </a:prstGeom>
          <a:solidFill>
            <a:srgbClr val="0F1535"/>
          </a:solidFill>
          <a:ln/>
        </p:spPr>
      </p:sp>
      <p:sp>
        <p:nvSpPr>
          <p:cNvPr id="17" name="Shape 15"/>
          <p:cNvSpPr/>
          <p:nvPr/>
        </p:nvSpPr>
        <p:spPr>
          <a:xfrm>
            <a:off x="2926080" y="3730752"/>
            <a:ext cx="329184" cy="256032"/>
          </a:xfrm>
          <a:prstGeom prst="roundRect">
            <a:avLst>
              <a:gd name="adj" fmla="val 35714"/>
            </a:avLst>
          </a:prstGeom>
          <a:solidFill>
            <a:srgbClr val="BF5AF2"/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0" y="3694176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F5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955280" y="369417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$1.25/$10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26110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V4 Pro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926080" y="4297680"/>
            <a:ext cx="4114800" cy="256032"/>
          </a:xfrm>
          <a:prstGeom prst="roundRect">
            <a:avLst>
              <a:gd name="adj" fmla="val 35714"/>
            </a:avLst>
          </a:prstGeom>
          <a:solidFill>
            <a:srgbClr val="0F1535"/>
          </a:solidFill>
          <a:ln/>
        </p:spPr>
      </p:sp>
      <p:sp>
        <p:nvSpPr>
          <p:cNvPr id="22" name="Shape 20"/>
          <p:cNvSpPr/>
          <p:nvPr/>
        </p:nvSpPr>
        <p:spPr>
          <a:xfrm>
            <a:off x="2926080" y="4297680"/>
            <a:ext cx="123444" cy="256032"/>
          </a:xfrm>
          <a:prstGeom prst="roundRect">
            <a:avLst>
              <a:gd name="adj" fmla="val 74074"/>
            </a:avLst>
          </a:prstGeom>
          <a:solidFill>
            <a:srgbClr val="64D2FF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0" y="4261104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955280" y="426110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$0.435/$0.87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280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MiMo 2.5 Pro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926080" y="4864608"/>
            <a:ext cx="4114800" cy="256032"/>
          </a:xfrm>
          <a:prstGeom prst="roundRect">
            <a:avLst>
              <a:gd name="adj" fmla="val 35714"/>
            </a:avLst>
          </a:prstGeom>
          <a:solidFill>
            <a:srgbClr val="0F1535"/>
          </a:solidFill>
          <a:ln/>
        </p:spPr>
      </p:sp>
      <p:sp>
        <p:nvSpPr>
          <p:cNvPr id="27" name="Shape 25"/>
          <p:cNvSpPr/>
          <p:nvPr/>
        </p:nvSpPr>
        <p:spPr>
          <a:xfrm>
            <a:off x="2926080" y="4864608"/>
            <a:ext cx="123444" cy="256032"/>
          </a:xfrm>
          <a:prstGeom prst="roundRect">
            <a:avLst>
              <a:gd name="adj" fmla="val 74074"/>
            </a:avLst>
          </a:prstGeom>
          <a:solidFill>
            <a:srgbClr val="FF9F0A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0" y="482803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955280" y="482803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$0.435/$0.87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5394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코드화 (Python)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926080" y="5431536"/>
            <a:ext cx="4114800" cy="256032"/>
          </a:xfrm>
          <a:prstGeom prst="roundRect">
            <a:avLst>
              <a:gd name="adj" fmla="val 35714"/>
            </a:avLst>
          </a:prstGeom>
          <a:solidFill>
            <a:srgbClr val="0F1535"/>
          </a:solidFill>
          <a:ln/>
        </p:spPr>
      </p:sp>
      <p:sp>
        <p:nvSpPr>
          <p:cNvPr id="32" name="Text 30"/>
          <p:cNvSpPr/>
          <p:nvPr/>
        </p:nvSpPr>
        <p:spPr>
          <a:xfrm>
            <a:off x="7223760" y="5394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0D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★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955280" y="53949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035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Claude Opus 4 대비 상대적 토큰 비용 (%)  ★ = 토큰비 0, 강제성 무관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과금 구조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숨겨진 비용: Thinking 토큰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0" y="1828800"/>
            <a:ext cx="2743200" cy="36576"/>
          </a:xfrm>
          <a:prstGeom prst="rect">
            <a:avLst/>
          </a:prstGeom>
          <a:solidFill>
            <a:srgbClr val="FF45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사용자 프롬프트 → input 가격    Output: 모델 응답 → output 가격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(추론): 모델의 내부 추론 → output 가격으로 과금 (input 아님!)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0F1535"/>
          </a:solidFill>
          <a:ln/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3017520"/>
            <a:ext cx="54864" cy="2743200"/>
          </a:xfrm>
          <a:prstGeom prst="rect">
            <a:avLst/>
          </a:prstGeom>
          <a:solidFill>
            <a:srgbClr val="FF453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108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포함 ($0.27/회)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566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1,000 + thinking 10,000 + 출력 500 토큰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4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$100으로 약 374번 대화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45720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이런 작업에 thinking 발생: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· 기획 · 추론 · 창작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3017520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0F1535"/>
          </a:solidFill>
          <a:ln/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3017520"/>
            <a:ext cx="54864" cy="2743200"/>
          </a:xfrm>
          <a:prstGeom prst="rect">
            <a:avLst/>
          </a:prstGeom>
          <a:solidFill>
            <a:srgbClr val="30D158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3108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0D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없이 ($0.02/회)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0" y="3566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1,000 + 출력 500 토큰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3931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0D1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$100으로 약 5,714번 대화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029200" y="45720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이런 작업은 thinking 없음: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옮기기 · 분류 · 설명 · 생성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0" y="5943600"/>
            <a:ext cx="2194560" cy="411480"/>
          </a:xfrm>
          <a:prstGeom prst="roundRect">
            <a:avLst>
              <a:gd name="adj" fmla="val 44444"/>
            </a:avLst>
          </a:prstGeom>
          <a:solidFill>
            <a:srgbClr val="0F1535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5943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15배 차이!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코드화인가?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3가지 이익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0" y="1828800"/>
            <a:ext cx="2743200" cy="36576"/>
          </a:xfrm>
          <a:prstGeom prst="rect">
            <a:avLst/>
          </a:prstGeom>
          <a:solidFill>
            <a:srgbClr val="30D15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28600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0F1535"/>
          </a:solidFill>
          <a:ln/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286000"/>
            <a:ext cx="54864" cy="2560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688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토큰비 절감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토큰 비용 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228600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0F1535"/>
          </a:solidFill>
          <a:ln/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2286000"/>
            <a:ext cx="54864" cy="2560320"/>
          </a:xfrm>
          <a:prstGeom prst="rect">
            <a:avLst/>
          </a:prstGeom>
          <a:solidFill>
            <a:srgbClr val="30D158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24688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0D1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474720" y="3291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일관성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74720" y="3749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모델마다 다른 해석 → 통일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228600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0F1535"/>
          </a:solidFill>
          <a:ln/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2286000"/>
            <a:ext cx="54864" cy="2560320"/>
          </a:xfrm>
          <a:prstGeom prst="rect">
            <a:avLst/>
          </a:prstGeom>
          <a:solidFill>
            <a:srgbClr val="FF9F0A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24688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9F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∞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309360" y="3291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변경 무관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09360" y="3749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모델이 나와도 유지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0292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1828800"/>
                <a:gridCol w="24688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모델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상대 비용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MD 강제성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D6E5"/>
                          </a:solidFill>
                        </a:rPr>
                        <a:t>Claude Opus 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D6E5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D6E5"/>
                          </a:solidFill>
                        </a:rPr>
                        <a:t>★★★★★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D6E5"/>
                          </a:solidFill>
                        </a:rPr>
                        <a:t>기준. 비쌈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D6E5"/>
                          </a:solidFill>
                        </a:rPr>
                        <a:t>Claude Sonnet 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D6E5"/>
                          </a:solidFill>
                        </a:rPr>
                        <a:t>20%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D6E5"/>
                          </a:solidFill>
                        </a:rPr>
                        <a:t>★★★★★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D6E5"/>
                          </a:solidFill>
                        </a:rPr>
                        <a:t>Opus와 동등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D6E5"/>
                          </a:solidFill>
                        </a:rPr>
                        <a:t>GPT-5 / Gemini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D6E5"/>
                          </a:solidFill>
                        </a:rPr>
                        <a:t>8%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D6E5"/>
                          </a:solidFill>
                        </a:rPr>
                        <a:t>★★★★☆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D6E5"/>
                          </a:solidFill>
                        </a:rPr>
                        <a:t>높은 강제성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D6E5"/>
                          </a:solidFill>
                        </a:rPr>
                        <a:t>DeepSeek V4 Pro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D6E5"/>
                          </a:solidFill>
                        </a:rPr>
                        <a:t>3%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D6E5"/>
                          </a:solidFill>
                        </a:rPr>
                        <a:t>★★★☆☆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D6E5"/>
                          </a:solidFill>
                        </a:rPr>
                        <a:t>중간 강제성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D6E5"/>
                          </a:solidFill>
                        </a:rPr>
                        <a:t>MiMo 2.5 Pro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D6E5"/>
                          </a:solidFill>
                        </a:rPr>
                        <a:t>3%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D6E5"/>
                          </a:solidFill>
                        </a:rPr>
                        <a:t>★★☆☆☆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D6E5"/>
                          </a:solidFill>
                        </a:rPr>
                        <a:t>낮은 강제성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0D158"/>
                          </a:solidFill>
                        </a:rPr>
                        <a:t>코드화 (Python)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0D158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0D158"/>
                          </a:solidFill>
                        </a:rPr>
                        <a:t>항상 동일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0D158"/>
                          </a:solidFill>
                        </a:rPr>
                        <a:t>강제성 무관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코드화 패턴의 본질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코드화 =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반복 검증할 "입력값"을 만드는 것</a:t>
            </a:r>
            <a:endParaRPr lang="en-US" sz="1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검증 툴체인을 구축하는 것</a:t>
            </a:r>
            <a:endParaRPr lang="en-US" sz="1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비개발자의 시간·에너지를 절약하면서 AI의 판단력은 유지하는 것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0" y="2926080"/>
            <a:ext cx="27432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3291840"/>
            <a:ext cx="3931920" cy="2926080"/>
          </a:xfrm>
          <a:prstGeom prst="roundRect">
            <a:avLst>
              <a:gd name="adj" fmla="val 3125"/>
            </a:avLst>
          </a:prstGeom>
          <a:solidFill>
            <a:srgbClr val="0F1535"/>
          </a:solidFill>
          <a:ln/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3291840"/>
            <a:ext cx="54864" cy="2926080"/>
          </a:xfrm>
          <a:prstGeom prst="rect">
            <a:avLst/>
          </a:prstGeom>
          <a:solidFill>
            <a:srgbClr val="FF453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83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최종값 패턴 ✕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3977640"/>
            <a:ext cx="914400" cy="411480"/>
          </a:xfrm>
          <a:prstGeom prst="roundRect">
            <a:avLst>
              <a:gd name="adj" fmla="val 17778"/>
            </a:avLst>
          </a:prstGeom>
          <a:solidFill>
            <a:srgbClr val="0F1535"/>
          </a:solidFill>
          <a:ln w="12700">
            <a:solidFill>
              <a:srgbClr val="2A2A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9776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규칙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6596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423160" y="3977640"/>
            <a:ext cx="914400" cy="411480"/>
          </a:xfrm>
          <a:prstGeom prst="roundRect">
            <a:avLst>
              <a:gd name="adj" fmla="val 17778"/>
            </a:avLst>
          </a:prstGeom>
          <a:solidFill>
            <a:srgbClr val="0F1535"/>
          </a:solidFill>
          <a:ln w="12700">
            <a:solidFill>
              <a:srgbClr val="2A2A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39776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코드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931920" y="397764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0F1535"/>
          </a:solidFill>
          <a:ln w="12700">
            <a:solidFill>
              <a:srgbClr val="FF45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0" y="39776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통과/위반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4663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판정 (AI 판단 없음, 경직됨)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50292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상황-맥락 무시 · 예외 판단 불가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291840"/>
            <a:ext cx="3931920" cy="2926080"/>
          </a:xfrm>
          <a:prstGeom prst="roundRect">
            <a:avLst>
              <a:gd name="adj" fmla="val 3125"/>
            </a:avLst>
          </a:prstGeom>
          <a:solidFill>
            <a:srgbClr val="0F1535"/>
          </a:solidFill>
          <a:ln/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291840"/>
            <a:ext cx="54864" cy="2926080"/>
          </a:xfrm>
          <a:prstGeom prst="rect">
            <a:avLst/>
          </a:prstGeom>
          <a:solidFill>
            <a:srgbClr val="30D15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3383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0D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입력값 패턴 ✓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029200" y="3977640"/>
            <a:ext cx="777240" cy="411480"/>
          </a:xfrm>
          <a:prstGeom prst="roundRect">
            <a:avLst>
              <a:gd name="adj" fmla="val 17778"/>
            </a:avLst>
          </a:prstGeom>
          <a:solidFill>
            <a:srgbClr val="0F1535"/>
          </a:solidFill>
          <a:ln w="12700">
            <a:solidFill>
              <a:srgbClr val="2A2A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3977640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규칙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897880" y="4023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17920" y="3977640"/>
            <a:ext cx="777240" cy="411480"/>
          </a:xfrm>
          <a:prstGeom prst="roundRect">
            <a:avLst>
              <a:gd name="adj" fmla="val 17778"/>
            </a:avLst>
          </a:prstGeom>
          <a:solidFill>
            <a:srgbClr val="0F1535"/>
          </a:solidFill>
          <a:ln w="12700">
            <a:solidFill>
              <a:srgbClr val="2A2A4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3977640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코드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086600" y="4023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406640" y="3977640"/>
            <a:ext cx="777240" cy="411480"/>
          </a:xfrm>
          <a:prstGeom prst="roundRect">
            <a:avLst>
              <a:gd name="adj" fmla="val 17778"/>
            </a:avLst>
          </a:prstGeom>
          <a:solidFill>
            <a:srgbClr val="0F1535"/>
          </a:solidFill>
          <a:ln w="12700">
            <a:solidFill>
              <a:srgbClr val="2A2A4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3977640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입력값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75320" y="4023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595360" y="3977640"/>
            <a:ext cx="777240" cy="411480"/>
          </a:xfrm>
          <a:prstGeom prst="roundRect">
            <a:avLst>
              <a:gd name="adj" fmla="val 17778"/>
            </a:avLst>
          </a:prstGeom>
          <a:solidFill>
            <a:srgbClr val="0F1535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95360" y="3977640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판단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0" y="4663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0D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상황-맥락 고려, 예외 판단 가능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0" y="50292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비개발자가 "절대적"이라 정의 안 해도 됨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코드화의 4가지 전제 조건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공조검규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0" y="1737360"/>
            <a:ext cx="2743200" cy="36576"/>
          </a:xfrm>
          <a:prstGeom prst="rect">
            <a:avLst/>
          </a:prstGeom>
          <a:solidFill>
            <a:srgbClr val="BF5AF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10312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0F1535"/>
          </a:solidFill>
          <a:ln/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103120"/>
            <a:ext cx="54864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48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공식화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286000" y="2148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계산으로 결과를 냄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286000" y="25146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키워드 밀도 = 키워드 수 / 전체 단어 수 × 100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0F1535"/>
          </a:solidFill>
          <a:ln/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3063240"/>
            <a:ext cx="54864" cy="822960"/>
          </a:xfrm>
          <a:prstGeom prst="rect">
            <a:avLst/>
          </a:prstGeom>
          <a:solidFill>
            <a:srgbClr val="30D15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108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0D1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조건화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286000" y="3108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조건이면 통과, 아니면 위반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286000" y="34747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키워드 3개 이상이면 통과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0F1535"/>
          </a:solidFill>
          <a:ln/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4023360"/>
            <a:ext cx="54864" cy="822960"/>
          </a:xfrm>
          <a:prstGeom prst="rect">
            <a:avLst/>
          </a:prstGeom>
          <a:solidFill>
            <a:srgbClr val="FF9F0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069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F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검증화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286000" y="4069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맞다/틀리다로 판별할 수 있어야 함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286000" y="44348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검증할 수 없는 것(감정, 창의성)은 코드화 불가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98348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0F1535"/>
          </a:solidFill>
          <a:ln/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4983480"/>
            <a:ext cx="54864" cy="822960"/>
          </a:xfrm>
          <a:prstGeom prst="rect">
            <a:avLst/>
          </a:prstGeom>
          <a:solidFill>
            <a:srgbClr val="BF5AF2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029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F5A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규격화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286000" y="5029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형식이어야 함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286000" y="53949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글자 수 500자 이상 2000자 이하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603504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0F1535"/>
          </a:solidFill>
          <a:ln/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6035040"/>
            <a:ext cx="54864" cy="548640"/>
          </a:xfrm>
          <a:prstGeom prst="rect">
            <a:avLst/>
          </a:prstGeom>
          <a:solidFill>
            <a:srgbClr val="FF453A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6080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코드화 불가:  감정 · 창의성 · 맥락 판단 · 윤리적 해석 → AI의 판단력이 필요한 영역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실전 사례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marketing_rules.py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0" y="1828800"/>
            <a:ext cx="2743200" cy="36576"/>
          </a:xfrm>
          <a:prstGeom prst="rect">
            <a:avLst/>
          </a:prstGeom>
          <a:solidFill>
            <a:srgbClr val="30D158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228600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0F1535"/>
          </a:solidFill>
          <a:ln w="12700">
            <a:solidFill>
              <a:srgbClr val="2A2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228600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6권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마케팅 전자책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83080" y="24231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57400" y="228600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0F1535"/>
          </a:solidFill>
          <a:ln w="12700">
            <a:solidFill>
              <a:srgbClr val="2A2A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57400" y="228600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추출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조건·공식·규격화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66160" y="24231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40480" y="228600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0F1535"/>
          </a:solidFill>
          <a:ln w="12700">
            <a:solidFill>
              <a:srgbClr val="2A2A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228600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비개발자 검토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O/X 판단만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49240" y="24231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23560" y="228600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0F1535"/>
          </a:solidFill>
          <a:ln w="12700">
            <a:solidFill>
              <a:srgbClr val="2A2A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23560" y="228600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코드화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파일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0" y="24231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406640" y="228600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0A2E14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228600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자동화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실행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34747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100x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914400" y="4206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토큰비 절감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0" y="34747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6권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3657600" y="4206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규칙 코드화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0" y="34747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301줄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6400800" y="4206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코드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84632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0F1535"/>
          </a:solidFill>
          <a:ln/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846320"/>
            <a:ext cx="54864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93776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비개발자가 "이 규칙을 코드화해라"라고 말하면</a:t>
            </a:r>
            <a:endParaRPr lang="en-US" sz="1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코드를 만들고, 비개발자는 검토·결정만.</a:t>
            </a:r>
            <a:endParaRPr lang="en-US" sz="1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과정이 "비개발자의 코드화"의 원형이다.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실전 사례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파일 의존성 구조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0" y="1828800"/>
            <a:ext cx="27432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286000"/>
            <a:ext cx="3657600" cy="3200400"/>
          </a:xfrm>
          <a:prstGeom prst="roundRect">
            <a:avLst>
              <a:gd name="adj" fmla="val 2857"/>
            </a:avLst>
          </a:prstGeom>
          <a:solidFill>
            <a:srgbClr val="0F1535"/>
          </a:solidFill>
          <a:ln/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286000"/>
            <a:ext cx="54864" cy="3200400"/>
          </a:xfrm>
          <a:prstGeom prst="rect">
            <a:avLst/>
          </a:prstGeom>
          <a:solidFill>
            <a:srgbClr val="FF453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377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4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097280" y="292608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2A1515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926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메모리 (87%)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97280" y="356616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221515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566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 전체 저장 (13,151자)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2062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모델마다 해석 다름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중복 관리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31920" y="32004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</a:rPr>
              <a:t>→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5029200" y="2286000"/>
            <a:ext cx="3657600" cy="3200400"/>
          </a:xfrm>
          <a:prstGeom prst="roundRect">
            <a:avLst>
              <a:gd name="adj" fmla="val 2857"/>
            </a:avLst>
          </a:prstGeom>
          <a:solidFill>
            <a:srgbClr val="0F1535"/>
          </a:solidFill>
          <a:ln/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0" y="2286000"/>
            <a:ext cx="54864" cy="3200400"/>
          </a:xfrm>
          <a:prstGeom prst="rect">
            <a:avLst/>
          </a:prstGeom>
          <a:solidFill>
            <a:srgbClr val="30D158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0" y="2377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0D1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669280" y="292608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0A2E14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0" y="2926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메모리 (55%)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69280" y="356616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A2212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0" y="3566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"참조 한 줄"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0" y="4023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669280" y="438912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A2E14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0" y="4389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파일 (코드화)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0" y="48463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독립성 확보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중복 제거 완료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576072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0F1535"/>
          </a:solidFill>
          <a:ln/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5760720"/>
            <a:ext cx="54864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58064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"이 규칙 → 이 파일" 한 줄로 축약 = 코드화 + 축약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코드화(2,443자) + 축약(2,326자) = 총 4,769자 절약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200400" y="1463040"/>
            <a:ext cx="27432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"AI를 도구로 소비하지 말고</a:t>
            </a:r>
            <a:endParaRPr lang="en-US" sz="3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시스템으로 설계하라"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쉽게 말하면,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F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'시켜 먹지 말고 같이 일하라'는 겁니다.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4937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비개발자가 "시스템을 설계"하는 경험</a:t>
            </a:r>
            <a:endParaRPr lang="en-US" sz="1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"검증 툴체인"을 구축하는 것</a:t>
            </a:r>
            <a:endParaRPr lang="en-US" sz="1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코드화된 결과가 "입력값"으로서 AI가 판단하는 것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0" y="6035040"/>
            <a:ext cx="2743200" cy="36576"/>
          </a:xfrm>
          <a:prstGeom prst="rect">
            <a:avLst/>
          </a:prstGeom>
          <a:solidFill>
            <a:srgbClr val="30D15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코드화 패턴: 비개발자가 AI를 다루는 새로운 패러다임</dc:title>
  <dc:subject>PptxGenJS Presentation</dc:subject>
  <dc:creator>DY Cho</dc:creator>
  <cp:lastModifiedBy>DY Cho</cp:lastModifiedBy>
  <cp:revision>1</cp:revision>
  <dcterms:created xsi:type="dcterms:W3CDTF">2026-06-13T16:37:08Z</dcterms:created>
  <dcterms:modified xsi:type="dcterms:W3CDTF">2026-06-13T16:37:08Z</dcterms:modified>
</cp:coreProperties>
</file>