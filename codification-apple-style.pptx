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412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914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BABAB"/>
                </a:solidFill>
                <a:latin typeface="Inter"/>
              </a:defRPr>
            </a:pPr>
            <a:r>
              <a:t>GPTers 22기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Inter"/>
              </a:defRPr>
            </a:pPr>
            <a:r>
              <a:t>코드화 패턴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BABAB"/>
                </a:solidFill>
                <a:latin typeface="Inter"/>
              </a:defRPr>
            </a:pPr>
            <a:r>
              <a:t>비개발자가 AI를 다루는 새로운 패러다임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583680"/>
            <a:ext cx="1828800" cy="38100"/>
          </a:xfrm>
          <a:prstGeom prst="rect">
            <a:avLst/>
          </a:prstGeom>
          <a:solidFill>
            <a:srgbClr val="3BE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7132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Inter"/>
              </a:defRPr>
            </a:pPr>
            <a:r>
              <a:t>DY Cho (조셉)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7772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F0A"/>
                </a:solidFill>
                <a:latin typeface="Inter"/>
              </a:defRPr>
            </a:pPr>
            <a:r>
              <a:t>"코드를 모르지만, 코드를 만들었습니다"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ABAB"/>
                </a:solidFill>
                <a:latin typeface="Inter"/>
              </a:defRPr>
            </a:pPr>
            <a:r>
              <a:t>오프닝: Parker 의자 장면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Inter"/>
              </a:defRPr>
            </a:pPr>
            <a:r>
              <a:t>"의자 = 방패와 창"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114800"/>
            <a:ext cx="1828800" cy="38100"/>
          </a:xfrm>
          <a:prstGeom prst="rect">
            <a:avLst/>
          </a:prstGeom>
          <a:solidFill>
            <a:srgbClr val="12B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Inter"/>
              </a:defRPr>
            </a:pPr>
            <a:r>
              <a:t>Parker(2013) 영화에서 의자는 단순한 가구가 아니었다.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Inter"/>
              </a:defRPr>
            </a:pPr>
            <a:r>
              <a:t>방어의 방패이자 공격의 창이었다.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F0A"/>
                </a:solidFill>
                <a:latin typeface="Inter"/>
              </a:defRPr>
            </a:pPr>
            <a:r>
              <a:t>저는 AI를 그냥 '시켜 먹는' 도구로 썼습니다.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9494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3A"/>
                </a:solidFill>
                <a:latin typeface="Inter"/>
              </a:defRPr>
            </a:pPr>
            <a:r>
              <a:t>그러다 $100이 하루만에 사라졌습니다.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804672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BBFE"/>
                </a:solidFill>
                <a:latin typeface="Inter"/>
              </a:defRPr>
            </a:pPr>
            <a:r>
              <a:t>AI도 마찬가지다.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859536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BBFE"/>
                </a:solidFill>
                <a:latin typeface="Inter"/>
              </a:defRPr>
            </a:pPr>
            <a:r>
              <a:t>도구로 소비하지 말고, 시스템으로 설계하라.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ABAB"/>
                </a:solidFill>
                <a:latin typeface="Inter"/>
              </a:defRPr>
            </a:pPr>
            <a:r>
              <a:t>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MD 강제성이 모델별로 달라서</a:t>
            </a:r>
            <a:br/>
            <a:r>
              <a:t>토큰비 낭비가 커진다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1828800" cy="38100"/>
          </a:xfrm>
          <a:prstGeom prst="rect">
            <a:avLst/>
          </a:prstGeom>
          <a:solidFill>
            <a:srgbClr val="12B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4114800"/>
            <a:ext cx="9144000" cy="320040"/>
          </a:xfrm>
          <a:prstGeom prst="roundRect">
            <a:avLst>
              <a:gd name="adj" fmla="val 3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4114800"/>
            <a:ext cx="9144000" cy="320040"/>
          </a:xfrm>
          <a:prstGeom prst="roundRect">
            <a:avLst>
              <a:gd name="adj" fmla="val 30000"/>
            </a:avLst>
          </a:prstGeom>
          <a:solidFill>
            <a:srgbClr val="12B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Inter"/>
              </a:defRPr>
            </a:pPr>
            <a:r>
              <a:t>Claude Opus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ABAB"/>
                </a:solidFill>
                <a:latin typeface="Inter"/>
              </a:defRPr>
            </a:pPr>
            <a: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663440"/>
            <a:ext cx="9144000" cy="320040"/>
          </a:xfrm>
          <a:prstGeom prst="roundRect">
            <a:avLst>
              <a:gd name="adj" fmla="val 3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4663440"/>
            <a:ext cx="731520" cy="320040"/>
          </a:xfrm>
          <a:prstGeom prst="roundRect">
            <a:avLst>
              <a:gd name="adj" fmla="val 30000"/>
            </a:avLst>
          </a:prstGeom>
          <a:solidFill>
            <a:srgbClr val="C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Inter"/>
              </a:defRPr>
            </a:pPr>
            <a:r>
              <a:t>GPT-5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ABAB"/>
                </a:solidFill>
                <a:latin typeface="Inter"/>
              </a:defRPr>
            </a:pPr>
            <a:r>
              <a:t>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5212080"/>
            <a:ext cx="9144000" cy="320040"/>
          </a:xfrm>
          <a:prstGeom prst="roundRect">
            <a:avLst>
              <a:gd name="adj" fmla="val 3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0" y="5212080"/>
            <a:ext cx="731520" cy="320040"/>
          </a:xfrm>
          <a:prstGeom prst="roundRect">
            <a:avLst>
              <a:gd name="adj" fmla="val 30000"/>
            </a:avLst>
          </a:prstGeom>
          <a:solidFill>
            <a:srgbClr val="C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Inter"/>
              </a:defRPr>
            </a:pPr>
            <a:r>
              <a:t>Gemini 2.5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ABAB"/>
                </a:solidFill>
                <a:latin typeface="Inter"/>
              </a:defRPr>
            </a:pPr>
            <a:r>
              <a:t>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5760720"/>
            <a:ext cx="9144000" cy="320040"/>
          </a:xfrm>
          <a:prstGeom prst="roundRect">
            <a:avLst>
              <a:gd name="adj" fmla="val 3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0" y="5760720"/>
            <a:ext cx="274320" cy="320040"/>
          </a:xfrm>
          <a:prstGeom prst="roundRect">
            <a:avLst>
              <a:gd name="adj" fmla="val 30000"/>
            </a:avLst>
          </a:prstGeom>
          <a:solidFill>
            <a:srgbClr val="12B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19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Inter"/>
              </a:defRPr>
            </a:pPr>
            <a:r>
              <a:t>DeepSeek V4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0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ABAB"/>
                </a:solidFill>
                <a:latin typeface="Inter"/>
              </a:defRPr>
            </a:pPr>
            <a:r>
              <a:t>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6309360"/>
            <a:ext cx="9144000" cy="320040"/>
          </a:xfrm>
          <a:prstGeom prst="roundRect">
            <a:avLst>
              <a:gd name="adj" fmla="val 3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0" y="6309360"/>
            <a:ext cx="274320" cy="320040"/>
          </a:xfrm>
          <a:prstGeom prst="roundRect">
            <a:avLst>
              <a:gd name="adj" fmla="val 30000"/>
            </a:avLst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19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Inter"/>
              </a:defRPr>
            </a:pPr>
            <a:r>
              <a:t>MiMo 2.5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ABAB"/>
                </a:solidFill>
                <a:latin typeface="Inter"/>
              </a:defRPr>
            </a:pPr>
            <a:r>
              <a:t>3%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6858000"/>
            <a:ext cx="9144000" cy="320040"/>
          </a:xfrm>
          <a:prstGeom prst="roundRect">
            <a:avLst>
              <a:gd name="adj" fmla="val 30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0" y="6858000"/>
            <a:ext cx="274320" cy="320040"/>
          </a:xfrm>
          <a:prstGeom prst="roundRect">
            <a:avLst>
              <a:gd name="adj" fmla="val 30000"/>
            </a:avLst>
          </a:prstGeom>
          <a:solidFill>
            <a:srgbClr val="3BE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19" y="6858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Inter"/>
              </a:defRPr>
            </a:pPr>
            <a:r>
              <a:t>코드화 (Python)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0" y="6858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BABAB"/>
                </a:solidFill>
                <a:latin typeface="Inter"/>
              </a:defRPr>
            </a:pPr>
            <a:r>
              <a:t>0% 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868680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Inter"/>
              </a:defRPr>
            </a:pPr>
            <a:r>
              <a:t>* Claude Opus 4 대비 상대적 토큰 비용 (%)  ★ = 토큰비 0, 강제성 무관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ABAB"/>
                </a:solidFill>
                <a:latin typeface="Inter"/>
              </a:defRPr>
            </a:pPr>
            <a:r>
              <a:t>AI 과금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숨겨진 비용: Thinking 토큰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017520"/>
            <a:ext cx="1828800" cy="3810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Inter"/>
              </a:defRPr>
            </a:pPr>
            <a:r>
              <a:t>Input (입력): 사용자 프롬프트 → input 가격    Output (출력): 모델 응답 → output 가격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3A"/>
                </a:solidFill>
                <a:latin typeface="Inter"/>
              </a:defRPr>
            </a:pPr>
            <a:r>
              <a:t>Thinking (추론): 모델의 내부 추론 → output 가격으로 과금 (input 아님!)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754880"/>
            <a:ext cx="731520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3A"/>
                </a:solidFill>
                <a:latin typeface="Inter"/>
              </a:defRPr>
            </a:pPr>
            <a:r>
              <a:t>Thinking 포함 ($0.27/회)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Inter"/>
              </a:defRPr>
            </a:pPr>
            <a:r>
              <a:t>입력 1,000 + thinking 10,000 + 출력 500 토큰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53A"/>
                </a:solidFill>
                <a:latin typeface="Inter"/>
              </a:defRPr>
            </a:pPr>
            <a:r>
              <a:t>$100으로 약 374번 대화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949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이런 작업에 thinking 발생: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7315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Inter"/>
              </a:defRPr>
            </a:pPr>
            <a:r>
              <a:t>분석 · 기획 · 추론 · 창작</a:t>
            </a:r>
            <a:br/>
            <a:r>
              <a:t>(사업 모델 분석, 코드 디버깅, 전략 수립 등)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4754880"/>
            <a:ext cx="731520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3BE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EE96"/>
                </a:solidFill>
                <a:latin typeface="Inter"/>
              </a:defRPr>
            </a:pPr>
            <a:r>
              <a:t>Thinking 없이 ($0.02/회)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Inter"/>
              </a:defRPr>
            </a:pPr>
            <a:r>
              <a:t>입력 1,000 + 출력 500 토큰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EE96"/>
                </a:solidFill>
                <a:latin typeface="Inter"/>
              </a:defRPr>
            </a:pPr>
            <a:r>
              <a:t>$100으로 약 5,714번 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949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이런 작업은 thinking 없음: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7315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Inter"/>
              </a:defRPr>
            </a:pPr>
            <a:r>
              <a:t>옮기기 · 분류 · 설명 · 생성</a:t>
            </a:r>
            <a:br/>
            <a:r>
              <a:t>(번역, 요약, 형식 변환, 용어 설명 등)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657600"/>
            <a:ext cx="2743200" cy="548640"/>
          </a:xfrm>
          <a:prstGeom prst="roundRect">
            <a:avLst>
              <a:gd name="adj" fmla="val 30000"/>
            </a:avLst>
          </a:prstGeom>
          <a:solidFill>
            <a:srgbClr val="1A1A2E"/>
          </a:solidFill>
          <a:ln w="25400">
            <a:solidFill>
              <a:srgbClr val="12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BBFE"/>
                </a:solidFill>
                <a:latin typeface="Inter"/>
              </a:defRPr>
            </a:pPr>
            <a:r>
              <a:t>15배 차이!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ABAB"/>
                </a:solidFill>
                <a:latin typeface="Inter"/>
              </a:defRPr>
            </a:pPr>
            <a:r>
              <a:t>왜 코드화인가?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Inter"/>
              </a:defRPr>
            </a:pPr>
            <a:r>
              <a:t>3가지 이익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926080"/>
            <a:ext cx="1828800" cy="38100"/>
          </a:xfrm>
          <a:prstGeom prst="rect">
            <a:avLst/>
          </a:prstGeom>
          <a:solidFill>
            <a:srgbClr val="3BE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41148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657600"/>
            <a:ext cx="2286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상대 비용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657600"/>
            <a:ext cx="2286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MD 강제성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3657600"/>
            <a:ext cx="32004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114800"/>
            <a:ext cx="41148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114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Claude Opus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4114800"/>
            <a:ext cx="22860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4114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4114800"/>
            <a:ext cx="22860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114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★★★★★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4114800"/>
            <a:ext cx="32004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기준. 비쌈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572000"/>
            <a:ext cx="41148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4572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Claude Sonnet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4572000"/>
            <a:ext cx="2286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4572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572000"/>
            <a:ext cx="2286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572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★★★★★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4572000"/>
            <a:ext cx="32004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4572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Opus와 동등 강제성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029200"/>
            <a:ext cx="41148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5029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GPT-5 / Gemini Pro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5029200"/>
            <a:ext cx="22860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5029200"/>
            <a:ext cx="22860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★★★★☆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5029200"/>
            <a:ext cx="32004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높은 강제성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5486400"/>
            <a:ext cx="41148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5486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DeepSeek V4 Pro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5486400"/>
            <a:ext cx="2286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5486400"/>
            <a:ext cx="22860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★★★☆☆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5486400"/>
            <a:ext cx="32004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5486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중간 강제성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0" y="5943600"/>
            <a:ext cx="41148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63040" y="5943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MiMo 2.5 Pro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5943600"/>
            <a:ext cx="22860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0" y="5943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5943600"/>
            <a:ext cx="22860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5943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★★☆☆☆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0" y="5943600"/>
            <a:ext cx="32004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5943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낮은 강제성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0" y="6400800"/>
            <a:ext cx="4114800" cy="457200"/>
          </a:xfrm>
          <a:prstGeom prst="rect">
            <a:avLst/>
          </a:prstGeom>
          <a:solidFill>
            <a:srgbClr val="0A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63040" y="6400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EE96"/>
                </a:solidFill>
                <a:latin typeface="Inter"/>
              </a:defRPr>
            </a:pPr>
            <a:r>
              <a:t>코드화 (Python)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6400800"/>
            <a:ext cx="2286000" cy="457200"/>
          </a:xfrm>
          <a:prstGeom prst="rect">
            <a:avLst/>
          </a:prstGeom>
          <a:solidFill>
            <a:srgbClr val="0A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7840" y="6400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EE96"/>
                </a:solidFill>
                <a:latin typeface="Inter"/>
              </a:defRPr>
            </a:pPr>
            <a:r>
              <a:t>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6400800"/>
            <a:ext cx="2286000" cy="457200"/>
          </a:xfrm>
          <a:prstGeom prst="rect">
            <a:avLst/>
          </a:prstGeom>
          <a:solidFill>
            <a:srgbClr val="0A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6400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EE96"/>
                </a:solidFill>
                <a:latin typeface="Inter"/>
              </a:defRPr>
            </a:pPr>
            <a:r>
              <a:t>항상 동일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58400" y="6400800"/>
            <a:ext cx="3200400" cy="457200"/>
          </a:xfrm>
          <a:prstGeom prst="rect">
            <a:avLst/>
          </a:prstGeom>
          <a:solidFill>
            <a:srgbClr val="0A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49840" y="6400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EE96"/>
                </a:solidFill>
                <a:latin typeface="Inter"/>
              </a:defRPr>
            </a:pPr>
            <a:r>
              <a:t>강제성 무관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73152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12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03120" y="74980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2BBFE"/>
                </a:solidFill>
                <a:latin typeface="Inter"/>
              </a:defRPr>
            </a:pPr>
            <a:r>
              <a:t>97%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03120" y="8138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토큰비 절감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8595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Thinking 토큰 비용 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58000" y="73152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3BE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0" y="74980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EE96"/>
                </a:solidFill>
                <a:latin typeface="Inter"/>
              </a:defRPr>
            </a:pPr>
            <a:r>
              <a:t>100%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0" y="8138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검증 일관성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8595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모델마다 다른 해석 → 통일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887200" y="73152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161520" y="74980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9F0A"/>
                </a:solidFill>
                <a:latin typeface="Inter"/>
              </a:defRPr>
            </a:pPr>
            <a:r>
              <a:t>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0" y="8138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모델 변경 무관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0" y="8595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새 모델이 나와도 유지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ABAB"/>
                </a:solidFill>
                <a:latin typeface="Inter"/>
              </a:defRPr>
            </a:pPr>
            <a:r>
              <a:t>코드화 패턴의 본질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2BBFE"/>
                </a:solidFill>
                <a:latin typeface="Inter"/>
              </a:defRPr>
            </a:pPr>
            <a:r>
              <a:t>코드화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Inter"/>
              </a:defRPr>
            </a:pPr>
            <a:r>
              <a:t>AI가 반복 검증할 "입력값"을 만드는 것</a:t>
            </a:r>
            <a:br/>
            <a:r>
              <a:t>= 검증 툴체인을 구축하는 것</a:t>
            </a:r>
            <a:br/>
            <a:r>
              <a:t>= 비개발자의 시간·에너지를 절약하면서</a:t>
            </a:r>
            <a:br/>
            <a:r>
              <a:t>  AI의 판단력은 유지하는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5029200"/>
            <a:ext cx="1828800" cy="38100"/>
          </a:xfrm>
          <a:prstGeom prst="rect">
            <a:avLst/>
          </a:prstGeom>
          <a:solidFill>
            <a:srgbClr val="12B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5486400"/>
            <a:ext cx="731520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453A"/>
                </a:solidFill>
                <a:latin typeface="Inter"/>
              </a:defRPr>
            </a:pPr>
            <a:r>
              <a:t>최종값 패턴 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6492240"/>
            <a:ext cx="1828800" cy="4572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6492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PDF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6583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6492240"/>
            <a:ext cx="1828800" cy="4572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6492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Python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583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6492240"/>
            <a:ext cx="1828800" cy="457200"/>
          </a:xfrm>
          <a:prstGeom prst="round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6492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통과/위반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7315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3A"/>
                </a:solidFill>
                <a:latin typeface="Inter"/>
              </a:defRPr>
            </a:pPr>
            <a:r>
              <a:t>최종 판정 (AI 판단 없음, 경직됨)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7772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상황-맥락 무시 · 예외 판단 불가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5486400"/>
            <a:ext cx="731520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3BE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EE96"/>
                </a:solidFill>
                <a:latin typeface="Inter"/>
              </a:defRPr>
            </a:pPr>
            <a:r>
              <a:t>입력값 패턴 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6492240"/>
            <a:ext cx="1371600" cy="4572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6492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PDF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583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61519" y="6492240"/>
            <a:ext cx="1371600" cy="4572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61519" y="6492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Python 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5999" y="6583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264639" y="6492240"/>
            <a:ext cx="1371600" cy="4572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64639" y="6492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입력값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19119" y="6583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367759" y="6492240"/>
            <a:ext cx="1371600" cy="457200"/>
          </a:xfrm>
          <a:prstGeom prst="roundRect">
            <a:avLst/>
          </a:prstGeom>
          <a:solidFill>
            <a:srgbClr val="3BE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367759" y="6492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AI 판단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7315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EE96"/>
                </a:solidFill>
                <a:latin typeface="Inter"/>
              </a:defRPr>
            </a:pPr>
            <a:r>
              <a:t>상황-맥락 고려, 예외 판단 가능, 유연함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7772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비개발자가 "절대적"이라 정의 안 해도 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ABAB"/>
                </a:solidFill>
                <a:latin typeface="Inter"/>
              </a:defRPr>
            </a:pPr>
            <a:r>
              <a:t>공조검규: 코드화의 4가지 전제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코드화할 수 있는 것 vs 없는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560320"/>
            <a:ext cx="1828800" cy="38100"/>
          </a:xfrm>
          <a:prstGeom prst="rect">
            <a:avLst/>
          </a:prstGeom>
          <a:solidFill>
            <a:srgbClr val="C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3200400"/>
            <a:ext cx="1554480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12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337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BBFE"/>
                </a:solidFill>
                <a:latin typeface="Inter"/>
              </a:defRPr>
            </a:pPr>
            <a:r>
              <a:t>공식화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3375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이 계산으로 결과를 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84048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키워드 밀도 = 키워드 수 / 전체 단어 수 ×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663440"/>
            <a:ext cx="1554480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3BE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800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EE96"/>
                </a:solidFill>
                <a:latin typeface="Inter"/>
              </a:defRPr>
            </a:pPr>
            <a:r>
              <a:t>조건화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800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이 조건이면 통과, 아니면 위반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303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키워드 3개 이상이면 통과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6126480"/>
            <a:ext cx="1554480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6263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0A"/>
                </a:solidFill>
                <a:latin typeface="Inter"/>
              </a:defRPr>
            </a:pPr>
            <a:r>
              <a:t>검증화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2636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맞다/틀리다로 판별할 수 있어야 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76656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코드화의 전제 조건 — 검증할 수 없는 것(감정, 창의성)은 코드화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7589520"/>
            <a:ext cx="1554480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CB6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7726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B6CE6"/>
                </a:solidFill>
                <a:latin typeface="Inter"/>
              </a:defRPr>
            </a:pPr>
            <a:r>
              <a:t>규격화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7726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이 형식이어야 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82296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Inter"/>
              </a:defRPr>
            </a:pPr>
            <a:r>
              <a:t>글자 수 500자 이상 2000자 이하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9144000"/>
            <a:ext cx="15544800" cy="7315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923544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3A"/>
                </a:solidFill>
                <a:latin typeface="Inter"/>
              </a:defRPr>
            </a:pPr>
            <a:r>
              <a:t>코드화 불가:  감정 · 창의성 · 맥락 판단 · 윤리적 해석 → AI의 판단력이 필요한 영역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ABAB"/>
                </a:solidFill>
                <a:latin typeface="Inter"/>
              </a:defRPr>
            </a:pPr>
            <a:r>
              <a:t>실전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Inter"/>
              </a:defRPr>
            </a:pPr>
            <a:r>
              <a:t>marketing_rules.py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926080"/>
            <a:ext cx="1828800" cy="38100"/>
          </a:xfrm>
          <a:prstGeom prst="rect">
            <a:avLst/>
          </a:prstGeom>
          <a:solidFill>
            <a:srgbClr val="3BE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2743200" cy="109728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PDF 6권</a:t>
            </a:r>
            <a:br/>
            <a:r>
              <a:t>마케팅 전자책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2743200" cy="109728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AI가 추출</a:t>
            </a:r>
            <a:br/>
            <a:r>
              <a:t>조건·공식·규격화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9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657600"/>
            <a:ext cx="2743200" cy="109728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비개발자 검토</a:t>
            </a:r>
            <a:br/>
            <a:r>
              <a:t>O/X 판단만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24159" y="3657600"/>
            <a:ext cx="2743200" cy="109728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39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코드화</a:t>
            </a:r>
            <a:br/>
            <a:r>
              <a:t>Python 파일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441680" y="3657600"/>
            <a:ext cx="2743200" cy="1097280"/>
          </a:xfrm>
          <a:prstGeom prst="roundRect">
            <a:avLst/>
          </a:prstGeom>
          <a:solidFill>
            <a:srgbClr val="3BEE96"/>
          </a:solidFill>
          <a:ln w="12700">
            <a:solidFill>
              <a:srgbClr val="3BE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624559" y="3749039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검증 자동화</a:t>
            </a:r>
            <a:br/>
            <a:r>
              <a:t>반복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486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2BBFE"/>
                </a:solidFill>
                <a:latin typeface="Inter"/>
              </a:defRPr>
            </a:pPr>
            <a:r>
              <a:t>100x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Inter"/>
              </a:defRPr>
            </a:pPr>
            <a:r>
              <a:t>토큰비 절감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486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2BBFE"/>
                </a:solidFill>
                <a:latin typeface="Inter"/>
              </a:defRPr>
            </a:pPr>
            <a:r>
              <a:t>6권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Inter"/>
              </a:defRPr>
            </a:pPr>
            <a:r>
              <a:t>PDF 규칙 코드화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0" y="5486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2BBFE"/>
                </a:solidFill>
                <a:latin typeface="Inter"/>
              </a:defRPr>
            </a:pPr>
            <a:r>
              <a:t>301줄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Inter"/>
              </a:defRPr>
            </a:pPr>
            <a:r>
              <a:t>Python 코드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7315200"/>
            <a:ext cx="1554480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12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758952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Inter"/>
              </a:defRPr>
            </a:pPr>
            <a:r>
              <a:t>비개발자가 "이 규칙을 코드화해라"라고 말하면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813816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Inter"/>
              </a:defRPr>
            </a:pPr>
            <a:r>
              <a:t>AI가 코드를 만들고, 비개발자는 검토·결정만.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868680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이 과정이 "비개발자의 코드화"의 원형이다.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ABAB"/>
                </a:solidFill>
                <a:latin typeface="Inter"/>
              </a:defRPr>
            </a:pPr>
            <a:r>
              <a:t>실전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Inter"/>
              </a:defRPr>
            </a:pPr>
            <a:r>
              <a:t>파일 의존성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926080"/>
            <a:ext cx="1828800" cy="38100"/>
          </a:xfrm>
          <a:prstGeom prst="rect">
            <a:avLst/>
          </a:prstGeom>
          <a:solidFill>
            <a:srgbClr val="12B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6858000" cy="4572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453A"/>
                </a:solidFill>
                <a:latin typeface="Inter"/>
              </a:defRPr>
            </a:pPr>
            <a:r>
              <a:t>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754880"/>
            <a:ext cx="5029200" cy="640080"/>
          </a:xfrm>
          <a:prstGeom prst="roundRect">
            <a:avLst/>
          </a:prstGeom>
          <a:solidFill>
            <a:srgbClr val="3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754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CA5A5"/>
                </a:solidFill>
                <a:latin typeface="Inter"/>
              </a:defRPr>
            </a:pPr>
            <a:r>
              <a:t>메모리 (87%)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5669280"/>
            <a:ext cx="5029200" cy="548640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5669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CA5A5"/>
                </a:solidFill>
                <a:latin typeface="Inter"/>
              </a:defRPr>
            </a:pPr>
            <a:r>
              <a:t>규칙 전체 저장 (13,151자)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5836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Inter"/>
              </a:defRPr>
            </a:pPr>
            <a:r>
              <a:t>모델마다 해석 다름</a:t>
            </a:r>
            <a:br/>
            <a:r>
              <a:t>중복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0292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2BBF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3657600"/>
            <a:ext cx="6858000" cy="4572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3BE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3931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EE96"/>
                </a:solidFill>
                <a:latin typeface="Inter"/>
              </a:defRPr>
            </a:pPr>
            <a:r>
              <a:t>After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0" y="4754880"/>
            <a:ext cx="5029200" cy="640080"/>
          </a:xfrm>
          <a:prstGeom prst="roundRect">
            <a:avLst/>
          </a:prstGeom>
          <a:solidFill>
            <a:srgbClr val="0A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0" y="4754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AC"/>
                </a:solidFill>
                <a:latin typeface="Inter"/>
              </a:defRPr>
            </a:pPr>
            <a:r>
              <a:t>메모리 (55%)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0" y="5669280"/>
            <a:ext cx="5029200" cy="548640"/>
          </a:xfrm>
          <a:prstGeom prst="roundRect">
            <a:avLst/>
          </a:prstGeom>
          <a:solidFill>
            <a:srgbClr val="0A2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5669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6EFAC"/>
                </a:solidFill>
                <a:latin typeface="Inter"/>
              </a:defRPr>
            </a:pPr>
            <a:r>
              <a:t>"참조 한 줄"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0" y="6766560"/>
            <a:ext cx="5029200" cy="548640"/>
          </a:xfrm>
          <a:prstGeom prst="roundRect">
            <a:avLst/>
          </a:prstGeom>
          <a:solidFill>
            <a:srgbClr val="0A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0" y="6766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6EFAC"/>
                </a:solidFill>
                <a:latin typeface="Inter"/>
              </a:defRPr>
            </a:pPr>
            <a:r>
              <a:t>Python 파일 (코드화)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749807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Inter"/>
              </a:defRPr>
            </a:pPr>
            <a:r>
              <a:t>모델 독립성 확보</a:t>
            </a:r>
            <a:br/>
            <a:r>
              <a:t>중복 제거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8686800"/>
            <a:ext cx="15544800" cy="10972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25400">
            <a:solidFill>
              <a:srgbClr val="12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886968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BBFE"/>
                </a:solidFill>
                <a:latin typeface="Inter"/>
              </a:defRPr>
            </a:pPr>
            <a:r>
              <a:t>핵심: "이 규칙 → 이 파일" 한 줄로 축약 = 코드화 + 축약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9326880"/>
            <a:ext cx="1463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Inter"/>
              </a:defRPr>
            </a:pPr>
            <a:r>
              <a:t>코드화(2,443자) + 축약(2,326자) = 총 4,769자 절약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BABAB"/>
                </a:solidFill>
                <a:latin typeface="Inter"/>
              </a:defRPr>
            </a:pPr>
            <a:r>
              <a:t>결론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560320"/>
            <a:ext cx="1828800" cy="38100"/>
          </a:xfrm>
          <a:prstGeom prst="rect">
            <a:avLst/>
          </a:prstGeom>
          <a:solidFill>
            <a:srgbClr val="12B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645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"AI를 도구로 소비하지 말고</a:t>
            </a:r>
            <a:br/>
            <a:r>
              <a:t>시스템으로 설계하라"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Inter"/>
              </a:defRPr>
            </a:pPr>
            <a:r>
              <a:t>쉽게 말하면,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217920"/>
            <a:ext cx="1645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9F0A"/>
                </a:solidFill>
                <a:latin typeface="Inter"/>
              </a:defRPr>
            </a:pPr>
            <a:r>
              <a:t>'시켜 먹지 말고 같이 일하라'는 겁니다.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7498079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Inter"/>
              </a:defRPr>
            </a:pPr>
            <a:r>
              <a:t>비개발자가 "시스템을 설계"하는 경험</a:t>
            </a:r>
            <a:br/>
            <a:r>
              <a:t>AI가 "검증 툴체인"을 구축하는 것</a:t>
            </a:r>
            <a:br/>
            <a:r>
              <a:t>코드화된 결과가 "입력값"으로서 AI가 판단하는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9144000"/>
            <a:ext cx="1828800" cy="38100"/>
          </a:xfrm>
          <a:prstGeom prst="rect">
            <a:avLst/>
          </a:prstGeom>
          <a:solidFill>
            <a:srgbClr val="3BE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941832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BABAB"/>
                </a:solidFill>
                <a:latin typeface="Inter"/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